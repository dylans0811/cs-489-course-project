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591fd8a8604662" /><Relationship Type="http://schemas.openxmlformats.org/officeDocument/2006/relationships/extended-properties" Target="/docProps/app.xml" Id="Rf48704faa9ee4eae" /><Relationship Type="http://schemas.openxmlformats.org/officeDocument/2006/relationships/officeDocument" Target="/ppt/presentation.xml" Id="R9ab76a2d89c042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8365e68c5f4353"/>
  </p:sldMasterIdLst>
  <p:notesMasterIdLst>
    <p:notesMasterId xmlns:r="http://schemas.openxmlformats.org/officeDocument/2006/relationships" r:id="Raba0e552093a463c"/>
  </p:notesMasterIdLst>
  <p:sldIdLst>
    <p:sldId xmlns:r="http://schemas.openxmlformats.org/officeDocument/2006/relationships" id="256" r:id="R58a11b0ef92a41a4"/>
    <p:sldId xmlns:r="http://schemas.openxmlformats.org/officeDocument/2006/relationships" id="257" r:id="R5302bb7cc82649de"/>
    <p:sldId xmlns:r="http://schemas.openxmlformats.org/officeDocument/2006/relationships" id="258" r:id="R1dd13ea7496e458b"/>
    <p:sldId xmlns:r="http://schemas.openxmlformats.org/officeDocument/2006/relationships" id="259" r:id="R40adacae0c184493"/>
    <p:sldId xmlns:r="http://schemas.openxmlformats.org/officeDocument/2006/relationships" id="260" r:id="Rdb18515f74094d06"/>
    <p:sldId xmlns:r="http://schemas.openxmlformats.org/officeDocument/2006/relationships" id="261" r:id="R99b903bf20d84f65"/>
    <p:sldId xmlns:r="http://schemas.openxmlformats.org/officeDocument/2006/relationships" id="262" r:id="R8c61bd31f35a4c05"/>
    <p:sldId xmlns:r="http://schemas.openxmlformats.org/officeDocument/2006/relationships" id="263" r:id="R8138aeb63a88445c"/>
    <p:sldId xmlns:r="http://schemas.openxmlformats.org/officeDocument/2006/relationships" id="264" r:id="R45e155063d834336"/>
    <p:sldId xmlns:r="http://schemas.openxmlformats.org/officeDocument/2006/relationships" id="265" r:id="R1da9787eb73d417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8365e68c5f4353" /><Relationship Type="http://schemas.openxmlformats.org/officeDocument/2006/relationships/theme" Target="/ppt/theme/theme1.xml" Id="R40c0d3ce633f43e5" /><Relationship Type="http://schemas.openxmlformats.org/officeDocument/2006/relationships/notesMaster" Target="/ppt/notesMasters/notesMaster1.xml" Id="Raba0e552093a463c" /><Relationship Type="http://schemas.openxmlformats.org/officeDocument/2006/relationships/presProps" Target="/ppt/presProps.xml" Id="Rffe546cdf06a451c" /><Relationship Type="http://schemas.openxmlformats.org/officeDocument/2006/relationships/viewProps" Target="/ppt/viewProps.xml" Id="R78e336d6819c412f" /><Relationship Type="http://schemas.openxmlformats.org/officeDocument/2006/relationships/tableStyles" Target="/ppt/tableStyles.xml" Id="R24aa7068acf04836" /><Relationship Type="http://schemas.openxmlformats.org/officeDocument/2006/relationships/slide" Target="/ppt/slides/slide1.xml" Id="R58a11b0ef92a41a4" /><Relationship Type="http://schemas.openxmlformats.org/officeDocument/2006/relationships/slide" Target="/ppt/slides/slide2.xml" Id="R5302bb7cc82649de" /><Relationship Type="http://schemas.openxmlformats.org/officeDocument/2006/relationships/slide" Target="/ppt/slides/slide3.xml" Id="R1dd13ea7496e458b" /><Relationship Type="http://schemas.openxmlformats.org/officeDocument/2006/relationships/slide" Target="/ppt/slides/slide4.xml" Id="R40adacae0c184493" /><Relationship Type="http://schemas.openxmlformats.org/officeDocument/2006/relationships/slide" Target="/ppt/slides/slide5.xml" Id="Rdb18515f74094d06" /><Relationship Type="http://schemas.openxmlformats.org/officeDocument/2006/relationships/slide" Target="/ppt/slides/slide6.xml" Id="R99b903bf20d84f65" /><Relationship Type="http://schemas.openxmlformats.org/officeDocument/2006/relationships/slide" Target="/ppt/slides/slide7.xml" Id="R8c61bd31f35a4c05" /><Relationship Type="http://schemas.openxmlformats.org/officeDocument/2006/relationships/slide" Target="/ppt/slides/slide8.xml" Id="R8138aeb63a88445c" /><Relationship Type="http://schemas.openxmlformats.org/officeDocument/2006/relationships/slide" Target="/ppt/slides/slide9.xml" Id="R45e155063d834336" /><Relationship Type="http://schemas.openxmlformats.org/officeDocument/2006/relationships/slide" Target="/ppt/slides/slide10.xml" Id="R1da9787eb73d41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241ad8f6e6f4d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345a23a6fd412b" /><Relationship Type="http://schemas.openxmlformats.org/officeDocument/2006/relationships/notesMaster" Target="/ppt/notesMasters/notesMaster1.xml" Id="Ra917bf0de56f4c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1dcab767614e5c" /><Relationship Type="http://schemas.openxmlformats.org/officeDocument/2006/relationships/notesMaster" Target="/ppt/notesMasters/notesMaster1.xml" Id="R35c19ece17c746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51f51c150a4e5d" /><Relationship Type="http://schemas.openxmlformats.org/officeDocument/2006/relationships/notesMaster" Target="/ppt/notesMasters/notesMaster1.xml" Id="R26ba9702e7af46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c449d3ed1244bd" /><Relationship Type="http://schemas.openxmlformats.org/officeDocument/2006/relationships/notesMaster" Target="/ppt/notesMasters/notesMaster1.xml" Id="Re279a643449045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5a374532804815" /><Relationship Type="http://schemas.openxmlformats.org/officeDocument/2006/relationships/notesMaster" Target="/ppt/notesMasters/notesMaster1.xml" Id="R7bf3e269a9be47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bb0ac1280a4802" /><Relationship Type="http://schemas.openxmlformats.org/officeDocument/2006/relationships/notesMaster" Target="/ppt/notesMasters/notesMaster1.xml" Id="Rf4952980172a47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7a0ebc4fbf40fc" /><Relationship Type="http://schemas.openxmlformats.org/officeDocument/2006/relationships/notesMaster" Target="/ppt/notesMasters/notesMaster1.xml" Id="Reee62f7fb0df47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ce99bb799346c9" /><Relationship Type="http://schemas.openxmlformats.org/officeDocument/2006/relationships/notesMaster" Target="/ppt/notesMasters/notesMaster1.xml" Id="Rb85b8648408a4c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139069c22245de" /><Relationship Type="http://schemas.openxmlformats.org/officeDocument/2006/relationships/notesMaster" Target="/ppt/notesMasters/notesMaster1.xml" Id="R591a6643ff5643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55f2ec56ec447f" /><Relationship Type="http://schemas.openxmlformats.org/officeDocument/2006/relationships/notesMaster" Target="/ppt/notesMasters/notesMaster1.xml" Id="R587a63b03e7744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f3f3f5a5c7418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AD81BF04-D558-4A9D-AE27-EB92C967D716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938C0121-0D5B-4F0C-8843-D0586C34A144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1B71783-E380-484C-860B-792FE7B4648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161F9EB-28A5-4326-A2D4-361EECB4A66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83FA75-36F6-4B22-823C-3B13797C2D9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1bf43980aeb4016" /><Relationship Type="http://schemas.openxmlformats.org/officeDocument/2006/relationships/slideLayout" Target="/ppt/slideLayouts/slideLayout2.xml" Id="Rb12d2ce5ebe944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2282C5-131D-49FC-818E-B885555C8DB8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2d2ce5ebe944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c6dc9a83c546f5" /><Relationship Type="http://schemas.openxmlformats.org/officeDocument/2006/relationships/notesSlide" Target="/ppt/notesSlides/notesSlide1.xml" Id="Rb4c6a2c91b4444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35a73c251c4e1c" /><Relationship Type="http://schemas.openxmlformats.org/officeDocument/2006/relationships/notesSlide" Target="/ppt/notesSlides/notesSlide2.xml" Id="Rcda5cfe368204d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de86a2316645f8" /><Relationship Type="http://schemas.openxmlformats.org/officeDocument/2006/relationships/notesSlide" Target="/ppt/notesSlides/notesSlide3.xml" Id="R85d350814eb940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ab9a8d10584840" /><Relationship Type="http://schemas.openxmlformats.org/officeDocument/2006/relationships/notesSlide" Target="/ppt/notesSlides/notesSlide4.xml" Id="Rbbe36786ba9047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eda790b88c419a" /><Relationship Type="http://schemas.openxmlformats.org/officeDocument/2006/relationships/notesSlide" Target="/ppt/notesSlides/notesSlide5.xml" Id="Rf2043163e45343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6897d088ff471d" /><Relationship Type="http://schemas.openxmlformats.org/officeDocument/2006/relationships/notesSlide" Target="/ppt/notesSlides/notesSlide6.xml" Id="Rc0f77520c22f44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3e3ae196c64b3d" /><Relationship Type="http://schemas.openxmlformats.org/officeDocument/2006/relationships/notesSlide" Target="/ppt/notesSlides/notesSlide7.xml" Id="R867e3edb93ea44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8b5d5cc7d646fd" /><Relationship Type="http://schemas.openxmlformats.org/officeDocument/2006/relationships/notesSlide" Target="/ppt/notesSlides/notesSlide8.xml" Id="R4f43e1d0df8d44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d8740ceb7d4b3c" /><Relationship Type="http://schemas.openxmlformats.org/officeDocument/2006/relationships/notesSlide" Target="/ppt/notesSlides/notesSlide9.xml" Id="R5b43214d90cb41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b5f6417996415c" /><Relationship Type="http://schemas.openxmlformats.org/officeDocument/2006/relationships/notesSlide" Target="/ppt/notesSlides/notesSlide10.xml" Id="Rdcaeb70b347943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83FA75-36F6-4B22-823C-3B13797C2D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0D598-760D-4920-A2A8-68A15E84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6579C-BA37-49BC-986F-81E2B3F4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4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37A43-19E1-47A7-8AAE-87F65F81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4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85A62"/>
                </a:solidFill>
              </a:defRPr>
            </a:pPr>
            <a:r>
              <a:rPr sz="3300" b="1">
                <a:solidFill>
                  <a:srgbClr val="085A62"/>
                </a:solidFill>
              </a:rPr>
              <a:t>BS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95E8A-6672-41B9-9D7A-E0C9AC84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19150"/>
            <a:ext cx="723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BrightSmile Dental Surgery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Appointment Webapp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21EF1C-E266-4DC3-9941-431E3B04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266950"/>
            <a:ext cx="704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EAF0"/>
                </a:solidFill>
              </a:defRPr>
            </a:pPr>
            <a:r>
              <a:rPr sz="1800" b="0">
                <a:solidFill>
                  <a:srgbClr val="DDEAF0"/>
                </a:solidFill>
              </a:rPr>
              <a:t>Secure appointment operations for patients, dentists, surgery rooms, bills, and staff users.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40825-C5BF-4256-BB75-904CE1C6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0995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ABE88-3680-49A8-A537-83653C4C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004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874"/>
                </a:solidFill>
              </a:defRPr>
            </a:pPr>
            <a:r>
              <a:rPr sz="1125" b="1">
                <a:solidFill>
                  <a:srgbClr val="5C6874"/>
                </a:solidFill>
              </a:rPr>
              <a:t>Stack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666F4-9D6C-4861-8CDE-B48D9969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67150"/>
            <a:ext cx="1466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7C86"/>
                </a:solidFill>
              </a:defRPr>
            </a:pPr>
            <a:r>
              <a:rPr sz="2550" b="1">
                <a:solidFill>
                  <a:srgbClr val="0E7C86"/>
                </a:solidFill>
              </a:rPr>
              <a:t>Spring Boot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939A41-7653-4290-89C5-DA4C19A2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0995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3CC4A-A856-4931-AE45-BC7F1E7A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004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874"/>
                </a:solidFill>
              </a:defRPr>
            </a:pPr>
            <a:r>
              <a:rPr sz="1125" b="1">
                <a:solidFill>
                  <a:srgbClr val="5C6874"/>
                </a:solidFill>
              </a:rPr>
              <a:t>Security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EB1270-95B9-4F58-A755-CCFE830B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67150"/>
            <a:ext cx="1466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8860B"/>
                </a:solidFill>
              </a:defRPr>
            </a:pPr>
            <a:r>
              <a:rPr sz="2550" b="1">
                <a:solidFill>
                  <a:srgbClr val="B8860B"/>
                </a:solidFill>
              </a:rPr>
              <a:t>JWT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311FBC-7DCE-4C3B-B3C4-2C5FFC3E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995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76C75-0743-4CC9-8561-A8CA4D71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004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874"/>
                </a:solidFill>
              </a:defRPr>
            </a:pPr>
            <a:r>
              <a:rPr sz="1125" b="1">
                <a:solidFill>
                  <a:srgbClr val="5C6874"/>
                </a:solidFill>
              </a:rPr>
              <a:t>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D5F69E-3DFD-4FE2-A580-8454279C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67150"/>
            <a:ext cx="1466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D7D46"/>
                </a:solidFill>
              </a:defRPr>
            </a:pPr>
            <a:r>
              <a:rPr sz="2550" b="1">
                <a:solidFill>
                  <a:srgbClr val="2D7D46"/>
                </a:solidFill>
              </a:rPr>
              <a:t>JPA/MySQL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A0185-31C5-4E89-AF3E-F5CD731F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0995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CD04E3-B36B-4FAB-8E93-8AF1C96D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004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874"/>
                </a:solidFill>
              </a:defRPr>
            </a:pPr>
            <a:r>
              <a:rPr sz="1125" b="1">
                <a:solidFill>
                  <a:srgbClr val="5C6874"/>
                </a:solidFill>
              </a:rPr>
              <a:t>UI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3712A-8FDB-4FD5-A034-C5327851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67150"/>
            <a:ext cx="1466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86955"/>
                </a:solidFill>
              </a:defRPr>
            </a:pPr>
            <a:r>
              <a:rPr sz="2550" b="1">
                <a:solidFill>
                  <a:srgbClr val="D86955"/>
                </a:solidFill>
              </a:rPr>
              <a:t>Web Console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5183D1-BEF4-4702-8C7B-8FD7D8CC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874"/>
                </a:solidFill>
              </a:defRPr>
            </a:pPr>
            <a:r>
              <a:rPr sz="1050" b="0">
                <a:solidFill>
                  <a:srgbClr val="5C6874"/>
                </a:solidFill>
              </a:rPr>
              <a:t>BrightSmile ADS  |  1/10</a:t>
            </a:r>
          </a:p>
        </p:txBody>
      </p:sp>
    </p:spTree>
    <p:extLst>
      <p:ext uri="{BB962C8B-B14F-4D97-AF65-F5344CB8AC3E}">
        <p14:creationId xmlns:p14="http://schemas.microsoft.com/office/powerpoint/2010/main" val="234671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83FA75-36F6-4B22-823C-3B13797C2D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ED17C-9606-42F9-B2E4-B7BC0186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5A62"/>
                </a:solidFill>
              </a:defRPr>
            </a:pPr>
            <a:r>
              <a:rPr sz="1350" b="1">
                <a:solidFill>
                  <a:srgbClr val="085A62"/>
                </a:solidFill>
              </a:rPr>
              <a:t>CS489 Course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2DDEE-C659-4D43-B9CB-D7A0BBE4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2314A"/>
                </a:solidFill>
              </a:defRPr>
            </a:pPr>
            <a:r>
              <a:rPr sz="3150" b="1">
                <a:solidFill>
                  <a:srgbClr val="22314A"/>
                </a:solidFill>
              </a:rPr>
              <a:t>Problem Scenario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56985-D6F3-407C-B121-F0DDD64F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8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874"/>
                </a:solidFill>
              </a:defRPr>
            </a:pPr>
            <a:r>
              <a:rPr sz="1575" b="0">
                <a:solidFill>
                  <a:srgbClr val="5C6874"/>
                </a:solidFill>
              </a:rPr>
              <a:t>Manual scheduling is risky when patient, dentist, room, bill, and confirmation data live separately.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CAEC1-D1AA-49E7-B6ED-B3449E0A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953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DCB3A-5174-4F17-BAE4-828F007C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955"/>
          </a:solidFill>
          <a:ln xmlns:a="http://schemas.openxmlformats.org/drawingml/2006/main" w="0">
            <a:solidFill>
              <a:srgbClr val="D869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D9748-A4AD-4979-927B-DB17EE4F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449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14A"/>
                </a:solidFill>
              </a:defRPr>
            </a:pPr>
            <a:r>
              <a:rPr sz="1650" b="1">
                <a:solidFill>
                  <a:srgbClr val="22314A"/>
                </a:solidFill>
              </a:rPr>
              <a:t>Operational Pain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6D6E8-9D2B-4EE5-9319-C1795E2B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44958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Office managers need one complete schedule across surgeries.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Dentists can be double-booked without slot-level validation.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Patients with unpaid balances should not receive new appointments.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Confirmation status needs to be visible to staff.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374DD-A49C-40AE-847A-08B635B5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4953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5DAAB-2450-4AF0-A14C-557BCC7E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1EBAF-0B9F-4C1B-85B6-70E031CD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57450"/>
            <a:ext cx="449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14A"/>
                </a:solidFill>
              </a:defRPr>
            </a:pPr>
            <a:r>
              <a:rPr sz="1650" b="1">
                <a:solidFill>
                  <a:srgbClr val="22314A"/>
                </a:solidFill>
              </a:rPr>
              <a:t>Project Response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F5862B-96D6-4572-ABC2-A961CAA6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95600"/>
            <a:ext cx="44958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Centralized staff console and JSON REST API.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Relational model for patients, dentists, surgeries, bills, users, and appointments.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Business rules enforced in the service layer.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Automated tests verify critical workflows.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9E1189-A08A-4454-97D8-E9A713CC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874"/>
                </a:solidFill>
              </a:defRPr>
            </a:pPr>
            <a:r>
              <a:rPr sz="1050" b="0">
                <a:solidFill>
                  <a:srgbClr val="5C6874"/>
                </a:solidFill>
              </a:rPr>
              <a:t>BrightSmile ADS  |  2/10</a:t>
            </a:r>
          </a:p>
        </p:txBody>
      </p:sp>
    </p:spTree>
    <p:extLst>
      <p:ext uri="{BB962C8B-B14F-4D97-AF65-F5344CB8AC3E}">
        <p14:creationId xmlns:p14="http://schemas.microsoft.com/office/powerpoint/2010/main" val="1040336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83FA75-36F6-4B22-823C-3B13797C2D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6FA88-4DBD-4696-98B8-4C82BD68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5A62"/>
                </a:solidFill>
              </a:defRPr>
            </a:pPr>
            <a:r>
              <a:rPr sz="1350" b="1">
                <a:solidFill>
                  <a:srgbClr val="085A62"/>
                </a:solidFill>
              </a:rPr>
              <a:t>CS489 Course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1A3DF-CFF6-42FC-BB80-C6A8B43B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2314A"/>
                </a:solidFill>
              </a:defRPr>
            </a:pPr>
            <a:r>
              <a:rPr sz="3150" b="1">
                <a:solidFill>
                  <a:srgbClr val="22314A"/>
                </a:solidFill>
              </a:rPr>
              <a:t>Requirements and Use Cases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3720B-71BF-4730-B88E-673E2044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874"/>
                </a:solidFill>
              </a:defRPr>
            </a:pPr>
            <a:r>
              <a:rPr sz="1575" b="0">
                <a:solidFill>
                  <a:srgbClr val="5C6874"/>
                </a:solidFill>
              </a:rPr>
              <a:t>The implementation focuses on staff workflows that make the demo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973CC-15D3-4FD4-9DE1-FB4CED62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DF391-6592-4701-9B30-39109D0B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14A"/>
                </a:solidFill>
              </a:defRPr>
            </a:pPr>
            <a:r>
              <a:rPr sz="1650" b="1">
                <a:solidFill>
                  <a:srgbClr val="22314A"/>
                </a:solidFill>
              </a:rPr>
              <a:t>Login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83766-014C-440B-A2E0-F9B1072D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90825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874"/>
                </a:solidFill>
              </a:defRPr>
            </a:pPr>
            <a:r>
              <a:rPr sz="1275" b="0">
                <a:solidFill>
                  <a:srgbClr val="5C6874"/>
                </a:solidFill>
              </a:rPr>
              <a:t>JWT authentication and role-based access.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97D38-9D1A-48D8-8547-8E547B2C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38375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55A85-CC24-455A-B089-9C712107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288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14A"/>
                </a:solidFill>
              </a:defRPr>
            </a:pPr>
            <a:r>
              <a:rPr sz="1650" b="1">
                <a:solidFill>
                  <a:srgbClr val="22314A"/>
                </a:solidFill>
              </a:rPr>
              <a:t>Register Patient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E37AE-DA7F-457A-B277-CC17EB1B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90825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874"/>
                </a:solidFill>
              </a:defRPr>
            </a:pPr>
            <a:r>
              <a:rPr sz="1275" b="0">
                <a:solidFill>
                  <a:srgbClr val="5C6874"/>
                </a:solidFill>
              </a:rPr>
              <a:t>Validated DTO creates patient and address records.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62148-FC90-45A3-A073-48675980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3AA9B-05EC-4EC8-9D87-68FABF09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288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14A"/>
                </a:solidFill>
              </a:defRPr>
            </a:pPr>
            <a:r>
              <a:rPr sz="1650" b="1">
                <a:solidFill>
                  <a:srgbClr val="22314A"/>
                </a:solidFill>
              </a:rPr>
              <a:t>Search Patients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7E985-E74E-4BD8-A2C9-17219957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90825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874"/>
                </a:solidFill>
              </a:defRPr>
            </a:pPr>
            <a:r>
              <a:rPr sz="1275" b="0">
                <a:solidFill>
                  <a:srgbClr val="5C6874"/>
                </a:solidFill>
              </a:rPr>
              <a:t>Search by identity, contact, and address fields.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1BA830-DA87-491F-A97E-DD91BCD1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3B5CE-0A30-45E9-B8A2-EA51B6C3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14A"/>
                </a:solidFill>
              </a:defRPr>
            </a:pPr>
            <a:r>
              <a:rPr sz="1650" b="1">
                <a:solidFill>
                  <a:srgbClr val="22314A"/>
                </a:solidFill>
              </a:rPr>
              <a:t>Schedule Appointment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6ED55-F8B7-49FE-8E67-C6460305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874"/>
                </a:solidFill>
              </a:defRPr>
            </a:pPr>
            <a:r>
              <a:rPr sz="1275" b="0">
                <a:solidFill>
                  <a:srgbClr val="5C6874"/>
                </a:solidFill>
              </a:rPr>
              <a:t>Select patient, dentist, surgery, date, time, and reason.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E98581-41AA-489A-ABFA-9466565B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62375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1B0759-5E0C-450A-8D63-D7EE24B5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528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14A"/>
                </a:solidFill>
              </a:defRPr>
            </a:pPr>
            <a:r>
              <a:rPr sz="1650" b="1">
                <a:solidFill>
                  <a:srgbClr val="22314A"/>
                </a:solidFill>
              </a:rPr>
              <a:t>Cancel Appointment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507F63-4690-4B9D-B703-729C14EC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14825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874"/>
                </a:solidFill>
              </a:defRPr>
            </a:pPr>
            <a:r>
              <a:rPr sz="1275" b="0">
                <a:solidFill>
                  <a:srgbClr val="5C6874"/>
                </a:solidFill>
              </a:rPr>
              <a:t>Status changes to CANCELLED without deleting history.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E78FE2-FE26-4A99-A065-2C4504B6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AF4E6E-6FC7-4AED-842D-A1E2A832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528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14A"/>
                </a:solidFill>
              </a:defRPr>
            </a:pPr>
            <a:r>
              <a:rPr sz="1650" b="1">
                <a:solidFill>
                  <a:srgbClr val="22314A"/>
                </a:solidFill>
              </a:rPr>
              <a:t>Dashboard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78F2F5-F44B-4460-8778-761D721A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14825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874"/>
                </a:solidFill>
              </a:defRPr>
            </a:pPr>
            <a:r>
              <a:rPr sz="1275" b="0">
                <a:solidFill>
                  <a:srgbClr val="5C6874"/>
                </a:solidFill>
              </a:rPr>
              <a:t>Counts and upcoming appointment timeline.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BF23DA-B47F-4C15-B9C7-90AF40ED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874"/>
                </a:solidFill>
              </a:defRPr>
            </a:pPr>
            <a:r>
              <a:rPr sz="1050" b="0">
                <a:solidFill>
                  <a:srgbClr val="5C6874"/>
                </a:solidFill>
              </a:rPr>
              <a:t>BrightSmile ADS  |  3/10</a:t>
            </a:r>
          </a:p>
        </p:txBody>
      </p:sp>
    </p:spTree>
    <p:extLst>
      <p:ext uri="{BB962C8B-B14F-4D97-AF65-F5344CB8AC3E}">
        <p14:creationId xmlns:p14="http://schemas.microsoft.com/office/powerpoint/2010/main" val="17353576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83FA75-36F6-4B22-823C-3B13797C2D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429E8-7587-4D8F-982B-F57FBCB4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5A62"/>
                </a:solidFill>
              </a:defRPr>
            </a:pPr>
            <a:r>
              <a:rPr sz="1350" b="1">
                <a:solidFill>
                  <a:srgbClr val="085A62"/>
                </a:solidFill>
              </a:rPr>
              <a:t>CS489 Course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AED07-9097-4267-94DA-334088D5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2314A"/>
                </a:solidFill>
              </a:defRPr>
            </a:pPr>
            <a:r>
              <a:rPr sz="3150" b="1">
                <a:solidFill>
                  <a:srgbClr val="22314A"/>
                </a:solidFill>
              </a:rPr>
              <a:t>Static Model: Main Classes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E0808-F1FB-4B6E-9579-37DBDAB5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874"/>
                </a:solidFill>
              </a:defRPr>
            </a:pPr>
            <a:r>
              <a:rPr sz="1575" b="0">
                <a:solidFill>
                  <a:srgbClr val="5C6874"/>
                </a:solidFill>
              </a:rPr>
              <a:t>Domain classes map directly to persistent business concepts.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6B924-F5CC-41A5-A4B3-4959AFD7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8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637128-0907-4325-BF08-09304B18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43175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E7C86"/>
                </a:solidFill>
              </a:defRPr>
            </a:pPr>
            <a:r>
              <a:rPr sz="1800" b="1">
                <a:solidFill>
                  <a:srgbClr val="0E7C86"/>
                </a:solidFill>
              </a:rPr>
              <a:t>Patient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3EF62-4E8C-4EEA-BAE9-9EFE5B8D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69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C59BC-EF3B-4A1E-B73E-30956C04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43175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86955"/>
                </a:solidFill>
              </a:defRPr>
            </a:pPr>
            <a:r>
              <a:rPr sz="1800" b="1">
                <a:solidFill>
                  <a:srgbClr val="D86955"/>
                </a:solidFill>
              </a:rPr>
              <a:t>Appointment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24B18-49C5-4493-941C-BC343CB0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D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8539E-AC8E-4883-B136-4915B4BD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43175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D7D46"/>
                </a:solidFill>
              </a:defRPr>
            </a:pPr>
            <a:r>
              <a:rPr sz="1800" b="1">
                <a:solidFill>
                  <a:srgbClr val="2D7D46"/>
                </a:solidFill>
              </a:rPr>
              <a:t>Dentist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34DDA-C937-4ECA-A8E8-78852C78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8600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86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A4D76-0781-4889-95D3-D955A3B6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43175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860B"/>
                </a:solidFill>
              </a:defRPr>
            </a:pPr>
            <a:r>
              <a:rPr sz="1800" b="1">
                <a:solidFill>
                  <a:srgbClr val="B8860B"/>
                </a:solidFill>
              </a:rPr>
              <a:t>Surgery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8CDB52-CF98-4907-ABE5-35E0B7AD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3B5EC-7876-4673-ABA5-BD00ACEE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352925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314A"/>
                </a:solidFill>
              </a:defRPr>
            </a:pPr>
            <a:r>
              <a:rPr sz="1800" b="1">
                <a:solidFill>
                  <a:srgbClr val="22314A"/>
                </a:solidFill>
              </a:rPr>
              <a:t>DentalBill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ADAA61-7676-462B-AD9C-82DFE0CA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5A6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2D80CE-2011-41C7-B0FB-8357A812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52925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5A62"/>
                </a:solidFill>
              </a:defRPr>
            </a:pPr>
            <a:r>
              <a:rPr sz="1800" b="1">
                <a:solidFill>
                  <a:srgbClr val="085A62"/>
                </a:solidFill>
              </a:rPr>
              <a:t>AppUser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4CBC70-C9E5-4B47-9084-28F39F42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9575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69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C57F80-B2C9-4732-872D-62CF9D87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52925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86955"/>
                </a:solidFill>
              </a:defRPr>
            </a:pPr>
            <a:r>
              <a:rPr sz="1800" b="1">
                <a:solidFill>
                  <a:srgbClr val="D86955"/>
                </a:solidFill>
              </a:rPr>
              <a:t>Role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893FE5-EB83-480E-B7BB-CCEA715C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33750"/>
            <a:ext cx="561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823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2314A"/>
                </a:solidFill>
              </a:defRPr>
            </a:pPr>
            <a:r>
              <a:rPr sz="1650" b="0">
                <a:solidFill>
                  <a:srgbClr val="22314A"/>
                </a:solidFill>
              </a:rPr>
              <a:t>Patient -&gt; Appointment -&gt; Dentist + Surgery</a:t>
            </a:r>
          </a:p>
          <a:p xmlns:a="http://schemas.openxmlformats.org/drawingml/2006/main">
            <a:pPr algn="ctr">
              <a:defRPr sz="1650" b="0">
                <a:solidFill>
                  <a:srgbClr val="22314A"/>
                </a:solidFill>
              </a:defRPr>
            </a:pPr>
            <a:r>
              <a:rPr sz="1650" b="0">
                <a:solidFill>
                  <a:srgbClr val="22314A"/>
                </a:solidFill>
              </a:rPr>
              <a:t>Patient -&gt; DentalBill</a:t>
            </a:r>
          </a:p>
          <a:p xmlns:a="http://schemas.openxmlformats.org/drawingml/2006/main">
            <a:pPr algn="ctr">
              <a:defRPr sz="1650" b="0">
                <a:solidFill>
                  <a:srgbClr val="22314A"/>
                </a:solidFill>
              </a:defRPr>
            </a:pPr>
            <a:r>
              <a:rPr sz="1650" b="0">
                <a:solidFill>
                  <a:srgbClr val="22314A"/>
                </a:solidFill>
              </a:rPr>
              <a:t>AppUser + Role -&gt; secured booking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E168F4-C8F9-4D50-A3B9-E6E594F4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874"/>
                </a:solidFill>
              </a:defRPr>
            </a:pPr>
            <a:r>
              <a:rPr sz="1050" b="0">
                <a:solidFill>
                  <a:srgbClr val="5C6874"/>
                </a:solidFill>
              </a:rPr>
              <a:t>BrightSmile ADS  |  4/10</a:t>
            </a:r>
          </a:p>
        </p:txBody>
      </p:sp>
    </p:spTree>
    <p:extLst>
      <p:ext uri="{BB962C8B-B14F-4D97-AF65-F5344CB8AC3E}">
        <p14:creationId xmlns:p14="http://schemas.microsoft.com/office/powerpoint/2010/main" val="19653094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83FA75-36F6-4B22-823C-3B13797C2D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5639B-A648-454B-885E-B60646A5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5A62"/>
                </a:solidFill>
              </a:defRPr>
            </a:pPr>
            <a:r>
              <a:rPr sz="1350" b="1">
                <a:solidFill>
                  <a:srgbClr val="085A62"/>
                </a:solidFill>
              </a:rPr>
              <a:t>CS489 Course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A9146-F29F-41A4-9EAA-72891F30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2314A"/>
                </a:solidFill>
              </a:defRPr>
            </a:pPr>
            <a:r>
              <a:rPr sz="3150" b="1">
                <a:solidFill>
                  <a:srgbClr val="22314A"/>
                </a:solidFill>
              </a:rPr>
              <a:t>Solution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4CFCE-42AB-4457-9FEF-D209BF49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03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874"/>
                </a:solidFill>
              </a:defRPr>
            </a:pPr>
            <a:r>
              <a:rPr sz="1575" b="0">
                <a:solidFill>
                  <a:srgbClr val="5C6874"/>
                </a:solidFill>
              </a:rPr>
              <a:t>Layered modular monolith with a simple browser client and stateless secured API.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6F85D-59CB-4E9F-AA8A-27183E17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8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2F26F-FA78-406A-94F5-5B2A4EC4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E7C86"/>
                </a:solidFill>
              </a:defRPr>
            </a:pPr>
            <a:r>
              <a:rPr sz="1725" b="1">
                <a:solidFill>
                  <a:srgbClr val="0E7C86"/>
                </a:solidFill>
              </a:rPr>
              <a:t>Client Tier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61D32-B761-4469-9029-A59B57F5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90875"/>
            <a:ext cx="1752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Static HTML/CSS/JS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Dashboard, forms, tables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F8201-2A55-4942-B41F-FAF96C67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19450"/>
            <a:ext cx="28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C6874"/>
                </a:solidFill>
              </a:defRPr>
            </a:pPr>
            <a:r>
              <a:rPr sz="2400" b="1">
                <a:solidFill>
                  <a:srgbClr val="5C6874"/>
                </a:solidFill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46937-06D8-465E-BA9E-B6870022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003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69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82B20-7D98-4DCB-BDAE-21CEA43D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6700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86955"/>
                </a:solidFill>
              </a:defRPr>
            </a:pPr>
            <a:r>
              <a:rPr sz="1725" b="1">
                <a:solidFill>
                  <a:srgbClr val="D86955"/>
                </a:solidFill>
              </a:rPr>
              <a:t>API + Security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CE352-FDCF-465E-B4EA-D840964A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90875"/>
            <a:ext cx="1752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Spring MVC controllers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Spring Security JWT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2F3BD-E86A-4BE4-89FB-0226DDF9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19450"/>
            <a:ext cx="28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C6874"/>
                </a:solidFill>
              </a:defRPr>
            </a:pPr>
            <a:r>
              <a:rPr sz="2400" b="1">
                <a:solidFill>
                  <a:srgbClr val="5C6874"/>
                </a:solidFill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42635-4FD8-4471-ABF1-45DD11D2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003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D4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491E82-9C90-418D-B742-4B5B5FA3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6700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7D46"/>
                </a:solidFill>
              </a:defRPr>
            </a:pPr>
            <a:r>
              <a:rPr sz="1725" b="1">
                <a:solidFill>
                  <a:srgbClr val="2D7D46"/>
                </a:solidFill>
              </a:rPr>
              <a:t>Services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E1B97A-1E3C-48C0-ADC9-6BFA8927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90875"/>
            <a:ext cx="1752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Business rules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DTO mapping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Transactions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C266A-E8B6-4658-89F9-9FBE3D39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19450"/>
            <a:ext cx="28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C6874"/>
                </a:solidFill>
              </a:defRPr>
            </a:pPr>
            <a:r>
              <a:rPr sz="2400" b="1">
                <a:solidFill>
                  <a:srgbClr val="5C6874"/>
                </a:solidFill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A76D35-D886-4363-BABE-D4282AF5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003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86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6926DD-5F6C-4B05-A53A-881E6302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6700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8860B"/>
                </a:solidFill>
              </a:defRPr>
            </a:pPr>
            <a:r>
              <a:rPr sz="1725" b="1">
                <a:solidFill>
                  <a:srgbClr val="B8860B"/>
                </a:solidFill>
              </a:rPr>
              <a:t>Persistence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3B9AA2-C5C5-4863-A88C-0FF847FF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90875"/>
            <a:ext cx="1752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Spring Data JPA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H2 or MySQL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4CE780-C92A-4108-993A-C6594EBC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874"/>
                </a:solidFill>
              </a:defRPr>
            </a:pPr>
            <a:r>
              <a:rPr sz="1050" b="0">
                <a:solidFill>
                  <a:srgbClr val="5C6874"/>
                </a:solidFill>
              </a:rPr>
              <a:t>BrightSmile ADS  |  5/10</a:t>
            </a:r>
          </a:p>
        </p:txBody>
      </p:sp>
    </p:spTree>
    <p:extLst>
      <p:ext uri="{BB962C8B-B14F-4D97-AF65-F5344CB8AC3E}">
        <p14:creationId xmlns:p14="http://schemas.microsoft.com/office/powerpoint/2010/main" val="969918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83FA75-36F6-4B22-823C-3B13797C2D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443A5-74BD-482A-8CFC-B03B17B4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5A62"/>
                </a:solidFill>
              </a:defRPr>
            </a:pPr>
            <a:r>
              <a:rPr sz="1350" b="1">
                <a:solidFill>
                  <a:srgbClr val="085A62"/>
                </a:solidFill>
              </a:rPr>
              <a:t>CS489 Course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C651C-3498-49A8-A2C6-B2B826E3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2314A"/>
                </a:solidFill>
              </a:defRPr>
            </a:pPr>
            <a:r>
              <a:rPr sz="3150" b="1">
                <a:solidFill>
                  <a:srgbClr val="22314A"/>
                </a:solidFill>
              </a:rPr>
              <a:t>Database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F19E7-9697-47D3-BB83-69102B34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874"/>
                </a:solidFill>
              </a:defRPr>
            </a:pPr>
            <a:r>
              <a:rPr sz="1575" b="0">
                <a:solidFill>
                  <a:srgbClr val="5C6874"/>
                </a:solidFill>
              </a:rPr>
              <a:t>The ER model supports scheduling, billing, security, and location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A8015-FB97-4D98-9602-C6B96AFD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4762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C6E3E-A413-4BEC-A725-4DC3336B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462CB-73C6-4002-B4D1-BDF29308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430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14A"/>
                </a:solidFill>
              </a:defRPr>
            </a:pPr>
            <a:r>
              <a:rPr sz="1650" b="1">
                <a:solidFill>
                  <a:srgbClr val="22314A"/>
                </a:solidFill>
              </a:rPr>
              <a:t>Core Tables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ECD46-BE4E-4003-9523-63D7D7B1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43053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patients, dentists, surgeries, addresses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appointments, dental_bills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app_users, roles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F177A-F436-47B6-98B4-49E99282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66950"/>
            <a:ext cx="4762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A536E-4664-456A-A66E-598CF094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669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60B"/>
          </a:solidFill>
          <a:ln xmlns:a="http://schemas.openxmlformats.org/drawingml/2006/main" w="0">
            <a:solidFill>
              <a:srgbClr val="B886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A9F19-5408-4DC7-8F2B-9F0DC903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57450"/>
            <a:ext cx="430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14A"/>
                </a:solidFill>
              </a:defRPr>
            </a:pPr>
            <a:r>
              <a:rPr sz="1650" b="1">
                <a:solidFill>
                  <a:srgbClr val="22314A"/>
                </a:solidFill>
              </a:rPr>
              <a:t>Important Constraints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71900-057B-4C8E-B7F0-3CA88932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95600"/>
            <a:ext cx="43053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Unique patient number and email.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Unique dentist code and email.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Unique dentist/date/time appointment slot.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One appointment can generate at most one bill.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E7BDC-6873-4FB7-A6CC-9A0850E2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874"/>
                </a:solidFill>
              </a:defRPr>
            </a:pPr>
            <a:r>
              <a:rPr sz="1500" b="0">
                <a:solidFill>
                  <a:srgbClr val="5C6874"/>
                </a:solidFill>
              </a:rPr>
              <a:t>Schema reference: docs/database/schema.sql</a:t>
            </a:r>
          </a:p>
          <a:p xmlns:a="http://schemas.openxmlformats.org/drawingml/2006/main">
            <a:pPr algn="l">
              <a:defRPr sz="1500" b="0">
                <a:solidFill>
                  <a:srgbClr val="5C6874"/>
                </a:solidFill>
              </a:defRPr>
            </a:pPr>
            <a:r>
              <a:rPr sz="1500" b="0">
                <a:solidFill>
                  <a:srgbClr val="5C6874"/>
                </a:solidFill>
              </a:rPr>
              <a:t>ER diagram: docs/database-er-diagram.md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3F88C8-CC08-4E57-A7C2-1AA5EA53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874"/>
                </a:solidFill>
              </a:defRPr>
            </a:pPr>
            <a:r>
              <a:rPr sz="1050" b="0">
                <a:solidFill>
                  <a:srgbClr val="5C6874"/>
                </a:solidFill>
              </a:rPr>
              <a:t>BrightSmile ADS  |  6/10</a:t>
            </a:r>
          </a:p>
        </p:txBody>
      </p:sp>
    </p:spTree>
    <p:extLst>
      <p:ext uri="{BB962C8B-B14F-4D97-AF65-F5344CB8AC3E}">
        <p14:creationId xmlns:p14="http://schemas.microsoft.com/office/powerpoint/2010/main" val="639929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83FA75-36F6-4B22-823C-3B13797C2D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0036B-127A-4B92-B5CC-949EC146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5A62"/>
                </a:solidFill>
              </a:defRPr>
            </a:pPr>
            <a:r>
              <a:rPr sz="1350" b="1">
                <a:solidFill>
                  <a:srgbClr val="085A62"/>
                </a:solidFill>
              </a:rPr>
              <a:t>CS489 Course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E2DC9-7F0C-4C58-A04C-D522015D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2314A"/>
                </a:solidFill>
              </a:defRPr>
            </a:pPr>
            <a:r>
              <a:rPr sz="3150" b="1">
                <a:solidFill>
                  <a:srgbClr val="22314A"/>
                </a:solidFill>
              </a:rPr>
              <a:t>Security and DTO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A6705-EDDF-4E32-9B74-6A0D2375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64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874"/>
                </a:solidFill>
              </a:defRPr>
            </a:pPr>
            <a:r>
              <a:rPr sz="1575" b="0">
                <a:solidFill>
                  <a:srgbClr val="5C6874"/>
                </a:solidFill>
              </a:rPr>
              <a:t>The API protects clinic data and keeps payload contracts separate from entity internals.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304AA-027C-458D-8345-43077DA6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9CCB6-313D-4F8D-B1D8-8C51F461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ED8CC-03D6-41AD-B4AE-7E3D8925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28875"/>
            <a:ext cx="449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14A"/>
                </a:solidFill>
              </a:defRPr>
            </a:pPr>
            <a:r>
              <a:rPr sz="1650" b="1">
                <a:solidFill>
                  <a:srgbClr val="22314A"/>
                </a:solidFill>
              </a:rPr>
              <a:t>Authentication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2BF16-08E6-4F40-B2EC-8C145C50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67025"/>
            <a:ext cx="44958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POST /api/v1/auth/login returns a Bearer token.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JWT filter validates each protected request.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Unauthorized requests receive structured JSON errors.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36B9A-453C-48A2-957F-8E7A5B19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38375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3B4B9-A328-4951-9B05-CD411236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38375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6F3CD-812D-46B5-B56D-D50F379C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449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14A"/>
                </a:solidFill>
              </a:defRPr>
            </a:pPr>
            <a:r>
              <a:rPr sz="1650" b="1">
                <a:solidFill>
                  <a:srgbClr val="22314A"/>
                </a:solidFill>
              </a:rPr>
              <a:t>Authorization and DTOs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6CD1F2-0603-4074-A705-B0813C30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67025"/>
            <a:ext cx="44958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Role checks use OFFICE_MANAGER and ADMINISTRATOR.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Request records include validation annotations.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Response DTOs avoid exposing entity graphs directly.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4C6DC-8646-4119-860E-5EF5F66A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874"/>
                </a:solidFill>
              </a:defRPr>
            </a:pPr>
            <a:r>
              <a:rPr sz="1050" b="0">
                <a:solidFill>
                  <a:srgbClr val="5C6874"/>
                </a:solidFill>
              </a:rPr>
              <a:t>BrightSmile ADS  |  7/10</a:t>
            </a:r>
          </a:p>
        </p:txBody>
      </p:sp>
    </p:spTree>
    <p:extLst>
      <p:ext uri="{BB962C8B-B14F-4D97-AF65-F5344CB8AC3E}">
        <p14:creationId xmlns:p14="http://schemas.microsoft.com/office/powerpoint/2010/main" val="14287956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83FA75-36F6-4B22-823C-3B13797C2D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87C05-6277-4594-AAF3-AD6ECEA1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5A62"/>
                </a:solidFill>
              </a:defRPr>
            </a:pPr>
            <a:r>
              <a:rPr sz="1350" b="1">
                <a:solidFill>
                  <a:srgbClr val="085A62"/>
                </a:solidFill>
              </a:rPr>
              <a:t>CS489 Course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B50D5-3A22-4D94-945B-18BF5F4E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2314A"/>
                </a:solidFill>
              </a:defRPr>
            </a:pPr>
            <a:r>
              <a:rPr sz="3150" b="1">
                <a:solidFill>
                  <a:srgbClr val="22314A"/>
                </a:solidFill>
              </a:rPr>
              <a:t>Testing, CI, and Deployment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828BC-E0D4-4084-A806-F153CF66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874"/>
                </a:solidFill>
              </a:defRPr>
            </a:pPr>
            <a:r>
              <a:rPr sz="1575" b="0">
                <a:solidFill>
                  <a:srgbClr val="5C6874"/>
                </a:solidFill>
              </a:rPr>
              <a:t>The project includes automated verification and containerized deployment.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6DE81-35B8-47D6-8EE2-42AF9255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F87D7-AAB9-4DE2-9ACB-CBE59754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874"/>
                </a:solidFill>
              </a:defRPr>
            </a:pPr>
            <a:r>
              <a:rPr sz="1125" b="1">
                <a:solidFill>
                  <a:srgbClr val="5C6874"/>
                </a:solidFill>
              </a:rPr>
              <a:t>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7E55D-4E88-48A2-B4C1-D143AC92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1466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D7D46"/>
                </a:solidFill>
              </a:defRPr>
            </a:pPr>
            <a:r>
              <a:rPr sz="2550" b="1">
                <a:solidFill>
                  <a:srgbClr val="2D7D46"/>
                </a:solidFill>
              </a:rPr>
              <a:t>5 passing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BF3B3-952F-47DC-92F6-37C2705B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8125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79566-6100-4BE8-9072-2A5D7F8B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874"/>
                </a:solidFill>
              </a:defRPr>
            </a:pPr>
            <a:r>
              <a:rPr sz="1125" b="1">
                <a:solidFill>
                  <a:srgbClr val="5C6874"/>
                </a:solidFill>
              </a:rPr>
              <a:t>CI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664BB-0132-485D-B567-38755C26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38450"/>
            <a:ext cx="1466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7C86"/>
                </a:solidFill>
              </a:defRPr>
            </a:pPr>
            <a:r>
              <a:rPr sz="2550" b="1">
                <a:solidFill>
                  <a:srgbClr val="0E7C86"/>
                </a:solidFill>
              </a:rPr>
              <a:t>Maven verify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5C1EBA-A342-4326-841E-48AA8D9B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8125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E5677-C1DD-4304-B55A-B5891CD4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717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874"/>
                </a:solidFill>
              </a:defRPr>
            </a:pPr>
            <a:r>
              <a:rPr sz="1125" b="1">
                <a:solidFill>
                  <a:srgbClr val="5C6874"/>
                </a:solidFill>
              </a:rPr>
              <a:t>Deploy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74B96-64E0-4D48-B0E4-34A757FE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38450"/>
            <a:ext cx="1466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86955"/>
                </a:solidFill>
              </a:defRPr>
            </a:pPr>
            <a:r>
              <a:rPr sz="2550" b="1">
                <a:solidFill>
                  <a:srgbClr val="D86955"/>
                </a:solidFill>
              </a:rPr>
              <a:t>Docker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D7A327-1B57-4F07-8AB5-A824C600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8125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F309D-3FB5-46C1-A142-49D58B0B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717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874"/>
                </a:solidFill>
              </a:defRPr>
            </a:pPr>
            <a:r>
              <a:rPr sz="1125" b="1">
                <a:solidFill>
                  <a:srgbClr val="5C6874"/>
                </a:solidFill>
              </a:rPr>
              <a:t>Database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2EEF19-5F96-42D6-A137-39A842EE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38450"/>
            <a:ext cx="1466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8860B"/>
                </a:solidFill>
              </a:defRPr>
            </a:pPr>
            <a:r>
              <a:rPr sz="2550" b="1">
                <a:solidFill>
                  <a:srgbClr val="B8860B"/>
                </a:solidFill>
              </a:rPr>
              <a:t>MySQL 8.4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3B85A0-0C24-4AA8-994F-3722760C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87630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41FC6B-85B2-4EBC-AB50-6341A175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 w="0">
            <a:solidFill>
              <a:srgbClr val="2D7D4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5F9AD8-C7DC-4875-A08B-BC9CAE26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830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14A"/>
                </a:solidFill>
              </a:defRPr>
            </a:pPr>
            <a:r>
              <a:rPr sz="1650" b="1">
                <a:solidFill>
                  <a:srgbClr val="22314A"/>
                </a:solidFill>
              </a:rPr>
              <a:t>Verified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78FD48-2D29-45EC-B4AE-2533AB38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8305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54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Login and protected dashboard.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Patient creation through DTOs.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Appointment scheduling.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Unpaid-bill rejection.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Weekly dentist appointment limit.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0AB0D0-7AB9-4BA3-BEB4-52E04BAF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874"/>
                </a:solidFill>
              </a:defRPr>
            </a:pPr>
            <a:r>
              <a:rPr sz="1050" b="0">
                <a:solidFill>
                  <a:srgbClr val="5C6874"/>
                </a:solidFill>
              </a:rPr>
              <a:t>BrightSmile ADS  |  8/10</a:t>
            </a:r>
          </a:p>
        </p:txBody>
      </p:sp>
    </p:spTree>
    <p:extLst>
      <p:ext uri="{BB962C8B-B14F-4D97-AF65-F5344CB8AC3E}">
        <p14:creationId xmlns:p14="http://schemas.microsoft.com/office/powerpoint/2010/main" val="9740960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83FA75-36F6-4B22-823C-3B13797C2D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2D011-9E6A-4420-97C9-935AA586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5A62"/>
                </a:solidFill>
              </a:defRPr>
            </a:pPr>
            <a:r>
              <a:rPr sz="1350" b="1">
                <a:solidFill>
                  <a:srgbClr val="085A62"/>
                </a:solidFill>
              </a:rPr>
              <a:t>CS489 Course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0B248-8B46-4AB5-B6AA-342EE8A2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2314A"/>
                </a:solidFill>
              </a:defRPr>
            </a:pPr>
            <a:r>
              <a:rPr sz="3150" b="1">
                <a:solidFill>
                  <a:srgbClr val="22314A"/>
                </a:solidFill>
              </a:rPr>
              <a:t>Demo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35264-D7FE-48D9-A101-10120BDC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874"/>
                </a:solidFill>
              </a:defRPr>
            </a:pPr>
            <a:r>
              <a:rPr sz="1575" b="0">
                <a:solidFill>
                  <a:srgbClr val="5C6874"/>
                </a:solidFill>
              </a:rPr>
              <a:t>The live demo can fit inside three minutes.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DB015-6004-4031-AEF7-F4CBB296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9906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A01FA-3943-4695-A1AD-6416C05D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5A62"/>
          </a:solidFill>
          <a:ln xmlns:a="http://schemas.openxmlformats.org/drawingml/2006/main" w="0">
            <a:solidFill>
              <a:srgbClr val="085A6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97DE9-FB4C-43DD-BAD4-7F90BAD5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944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14A"/>
                </a:solidFill>
              </a:defRPr>
            </a:pPr>
            <a:r>
              <a:rPr sz="1650" b="1">
                <a:solidFill>
                  <a:srgbClr val="22314A"/>
                </a:solidFill>
              </a:rPr>
              <a:t>Live Walkthrough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F0C98-32EB-4751-BD8D-34CB468A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19400"/>
            <a:ext cx="944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- 1. Sign in as HainingSong.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- 2. Show dashboard counts and upcoming schedule.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- 3. Search patients.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- 4. Register a new patient.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- 5. Schedule an appointment.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- 6. Trigger unpaid-bill rejection for P108.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- 7. Mention tests and Docker/CI.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A2969-865B-42DC-A62D-0D56A1F8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874"/>
                </a:solidFill>
              </a:defRPr>
            </a:pPr>
            <a:r>
              <a:rPr sz="1050" b="0">
                <a:solidFill>
                  <a:srgbClr val="5C6874"/>
                </a:solidFill>
              </a:rPr>
              <a:t>BrightSmile ADS  |  9/10</a:t>
            </a:r>
          </a:p>
        </p:txBody>
      </p:sp>
    </p:spTree>
    <p:extLst>
      <p:ext uri="{BB962C8B-B14F-4D97-AF65-F5344CB8AC3E}">
        <p14:creationId xmlns:p14="http://schemas.microsoft.com/office/powerpoint/2010/main" val="20801736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83FA75-36F6-4B22-823C-3B13797C2D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D31F1-A3FE-41A3-ADF0-ED5EF19F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5A62"/>
                </a:solidFill>
              </a:defRPr>
            </a:pPr>
            <a:r>
              <a:rPr sz="1350" b="1">
                <a:solidFill>
                  <a:srgbClr val="085A62"/>
                </a:solidFill>
              </a:rPr>
              <a:t>CS489 Course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39E64-C6C5-4E11-9CC6-CF1348B7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2314A"/>
                </a:solidFill>
              </a:defRPr>
            </a:pPr>
            <a:r>
              <a:rPr sz="3150" b="1">
                <a:solidFill>
                  <a:srgbClr val="22314A"/>
                </a:solidFill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3BF4D-C016-4D8E-A172-E3F9CC52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40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874"/>
                </a:solidFill>
              </a:defRPr>
            </a:pPr>
            <a:r>
              <a:rPr sz="1575" b="0">
                <a:solidFill>
                  <a:srgbClr val="5C6874"/>
                </a:solidFill>
              </a:rPr>
              <a:t>BrightSmile ADS delivers a complete final course-project webapp and artefact set.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C9472-7866-4736-B14D-5C79F140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4953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AE656-6D2F-4A9E-ABD3-986213CF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 w="0">
            <a:solidFill>
              <a:srgbClr val="2D7D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B2E7A-0A7F-4E85-9053-64920D25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8875"/>
            <a:ext cx="449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14A"/>
                </a:solidFill>
              </a:defRPr>
            </a:pPr>
            <a:r>
              <a:rPr sz="1650" b="1">
                <a:solidFill>
                  <a:srgbClr val="22314A"/>
                </a:solidFill>
              </a:rPr>
              <a:t>What Is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7196E-BF40-499B-A3E8-295C4191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67025"/>
            <a:ext cx="44958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Secure web UI and REST API.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JPA domain model and relational design.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Business-rule enforcement in services.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Tests, CI, Docker, and documentation.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A967E-011E-4952-890C-8FE8A2C9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4953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F0DC1-10C5-4C8F-8D50-4CC27D58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955"/>
          </a:solidFill>
          <a:ln xmlns:a="http://schemas.openxmlformats.org/drawingml/2006/main" w="0">
            <a:solidFill>
              <a:srgbClr val="D869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E3EF5-A6D5-4D12-944C-BA02B548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28875"/>
            <a:ext cx="449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14A"/>
                </a:solidFill>
              </a:defRPr>
            </a:pPr>
            <a:r>
              <a:rPr sz="1650" b="1">
                <a:solidFill>
                  <a:srgbClr val="22314A"/>
                </a:solidFill>
              </a:rPr>
              <a:t>Future Improvements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E41CC5-B810-4E7D-B83A-2F5E688F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67025"/>
            <a:ext cx="44958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Real SMTP confirmation emails.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Patient self-service portal.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Payment workflow for outstanding bills.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- External calendar integration.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91E6D-0BFB-4490-AB77-C6521E92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874"/>
                </a:solidFill>
              </a:defRPr>
            </a:pPr>
            <a:r>
              <a:rPr sz="1050" b="0">
                <a:solidFill>
                  <a:srgbClr val="5C6874"/>
                </a:solidFill>
              </a:rPr>
              <a:t>BrightSmile ADS  |  10/10</a:t>
            </a:r>
          </a:p>
        </p:txBody>
      </p:sp>
    </p:spTree>
    <p:extLst>
      <p:ext uri="{BB962C8B-B14F-4D97-AF65-F5344CB8AC3E}">
        <p14:creationId xmlns:p14="http://schemas.microsoft.com/office/powerpoint/2010/main" val="17668972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2026-04-18T20:08:21.0930000Z</dcterms:created>
  <dcterms:modified xsi:type="dcterms:W3CDTF">2026-04-18T20:08:21.0930000Z</dcterms:modified>
</coreProperties>
</file>